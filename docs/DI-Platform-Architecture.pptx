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EXPLAINER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Two powerful studios.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of how the platform turns legacy banking discovery and unstructured stakeholder input into Agile-ready backlogs.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IDD: </a:t>
            </a:r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DI-2026-NKK-0511-001</a:t>
            </a:r>
            <a:pPr indent="0" marL="0">
              <a:buNone/>
            </a:pPr>
            <a:r>
              <a:rPr lang="en-US" sz="12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Inventor: </a:t>
            </a:r>
            <a:pPr indent="0" marL="0">
              <a:buNone/>
            </a:pPr>
            <a:r>
              <a:rPr lang="en-US" sz="1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Nishanth Kumar Kishore</a:t>
            </a:r>
            <a:pPr indent="0" marL="0">
              <a:buNone/>
            </a:pPr>
            <a:r>
              <a:rPr lang="en-US" sz="12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200" b="1" dirty="0">
                <a:solidFill>
                  <a:srgbClr val="9B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Infotech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through the platform — from studios to deployment.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57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studios on a shared FastAPI backend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011680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057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six-agent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→ Generator → Writer → AC → Estimate → 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99232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0449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072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410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99232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999232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0449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86600" y="3072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precedence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410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→ YAML → Python defaults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86784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986784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0325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71600" y="4059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loop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398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pytest → uvicorn reload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986784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986784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40325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86600" y="4059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topology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4398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Postgres + Redis via docker-compose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974336"/>
            <a:ext cx="5486400" cy="82296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4974336"/>
            <a:ext cx="73152" cy="82296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502005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371600" y="5047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1600" y="5385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Fixtures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studios, one backend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exposes two integrated studios on a shared FastAPI backend.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5394960" cy="3383280"/>
          </a:xfrm>
          <a:prstGeom prst="rect">
            <a:avLst/>
          </a:prstGeom>
          <a:solidFill>
            <a:srgbClr val="2A3556"/>
          </a:solidFill>
          <a:ln w="25400">
            <a:solidFill>
              <a:srgbClr val="5BE1D3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5394960" cy="164592"/>
          </a:xfrm>
          <a:prstGeom prst="rect">
            <a:avLst/>
          </a:prstGeom>
          <a:solidFill>
            <a:srgbClr val="5BE1D3"/>
          </a:solidFill>
          <a:ln w="12700">
            <a:solidFill>
              <a:srgbClr val="5BE1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822960" cy="822960"/>
          </a:xfrm>
          <a:prstGeom prst="ellipse">
            <a:avLst/>
          </a:prstGeom>
          <a:solidFill>
            <a:srgbClr val="5BE1D3"/>
          </a:solidFill>
          <a:ln w="12700">
            <a:solidFill>
              <a:srgbClr val="5BE1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2606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Capsule Discovery Studio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legacy banking servers and classifies code components for action.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classification — Optimize / No Action / Decommission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394960" cy="3383280"/>
          </a:xfrm>
          <a:prstGeom prst="rect">
            <a:avLst/>
          </a:prstGeom>
          <a:solidFill>
            <a:srgbClr val="2A3556"/>
          </a:solidFill>
          <a:ln w="2540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394960" cy="164592"/>
          </a:xfrm>
          <a:prstGeom prst="rect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606040"/>
            <a:ext cx="822960" cy="822960"/>
          </a:xfrm>
          <a:prstGeom prst="ellipse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2606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Requirements Studio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3749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unstructured discovery input into Agile backlogs via a 6-agent AI pipeline.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4389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specialised AI agents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 acceptance criteria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&amp; Rally export ready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flow: clients → studios → services → datastores &amp; AI → enterprise export.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920240"/>
            <a:ext cx="393192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5BE1D3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Studio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analysis · Code classification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1920240"/>
            <a:ext cx="393192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6-Agent AI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→ Generator → Writer → AC → Estimate → Map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606040"/>
            <a:ext cx="0" cy="411480"/>
          </a:xfrm>
          <a:prstGeom prst="line">
            <a:avLst/>
          </a:prstGeom>
          <a:noFill/>
          <a:ln w="25400">
            <a:solidFill>
              <a:srgbClr val="6EA8FF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2606040"/>
            <a:ext cx="0" cy="411480"/>
          </a:xfrm>
          <a:prstGeom prst="line">
            <a:avLst/>
          </a:prstGeom>
          <a:noFill/>
          <a:ln w="25400">
            <a:solidFill>
              <a:srgbClr val="6EA8FF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88720" y="3063240"/>
            <a:ext cx="978408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FFB86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1089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Validation · Persistence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0" cy="411480"/>
          </a:xfrm>
          <a:prstGeom prst="line">
            <a:avLst/>
          </a:prstGeom>
          <a:noFill/>
          <a:ln w="25400">
            <a:solidFill>
              <a:srgbClr val="6EA8FF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39596" y="4206240"/>
            <a:ext cx="292608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6EA8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39596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39596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1436" y="4206240"/>
            <a:ext cx="292608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FF7A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31436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31436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queue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23276" y="4206240"/>
            <a:ext cx="2926080" cy="640080"/>
          </a:xfrm>
          <a:prstGeom prst="rect">
            <a:avLst/>
          </a:prstGeom>
          <a:solidFill>
            <a:srgbClr val="2A3556"/>
          </a:solidFill>
          <a:ln w="1905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23276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23276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892040"/>
            <a:ext cx="0" cy="365760"/>
          </a:xfrm>
          <a:prstGeom prst="line">
            <a:avLst/>
          </a:prstGeom>
          <a:noFill/>
          <a:ln w="25400">
            <a:solidFill>
              <a:srgbClr val="5DD6A0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4892040"/>
            <a:ext cx="0" cy="365760"/>
          </a:xfrm>
          <a:prstGeom prst="line">
            <a:avLst/>
          </a:prstGeom>
          <a:noFill/>
          <a:ln w="25400">
            <a:solidFill>
              <a:srgbClr val="5DD6A0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66160" y="5303520"/>
            <a:ext cx="2377440" cy="502920"/>
          </a:xfrm>
          <a:prstGeom prst="rect">
            <a:avLst/>
          </a:prstGeom>
          <a:solidFill>
            <a:srgbClr val="2A3556"/>
          </a:solidFill>
          <a:ln w="19050">
            <a:solidFill>
              <a:srgbClr val="5D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5303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Export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5303520"/>
            <a:ext cx="2377440" cy="502920"/>
          </a:xfrm>
          <a:prstGeom prst="rect">
            <a:avLst/>
          </a:prstGeom>
          <a:solidFill>
            <a:srgbClr val="2A3556"/>
          </a:solidFill>
          <a:ln w="19050">
            <a:solidFill>
              <a:srgbClr val="5D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5303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Export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SIX-AGENT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six-agent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transforms the previous agent's output — raw discovery becomes a complete backlog.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6EA8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02436" y="2423160"/>
            <a:ext cx="731520" cy="731520"/>
          </a:xfrm>
          <a:prstGeom prst="ellipse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243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22376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18588" y="3383280"/>
            <a:ext cx="109728" cy="0"/>
          </a:xfrm>
          <a:prstGeom prst="line">
            <a:avLst/>
          </a:prstGeom>
          <a:noFill/>
          <a:ln w="190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2888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2948" y="2423160"/>
            <a:ext cx="731520" cy="731520"/>
          </a:xfrm>
          <a:prstGeom prst="ellipse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2948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32888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24328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priority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9100" y="3383280"/>
            <a:ext cx="109728" cy="0"/>
          </a:xfrm>
          <a:prstGeom prst="line">
            <a:avLst/>
          </a:prstGeom>
          <a:noFill/>
          <a:ln w="190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43400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FF7A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3460" y="2423160"/>
            <a:ext cx="731520" cy="731520"/>
          </a:xfrm>
          <a:prstGeom prst="ellipse">
            <a:avLst/>
          </a:prstGeom>
          <a:solidFill>
            <a:srgbClr val="FF7AD6"/>
          </a:solidFill>
          <a:ln w="12700">
            <a:solidFill>
              <a:srgbClr val="FF7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34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343400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[persona]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9612" y="3383280"/>
            <a:ext cx="109728" cy="0"/>
          </a:xfrm>
          <a:prstGeom prst="line">
            <a:avLst/>
          </a:prstGeom>
          <a:noFill/>
          <a:ln w="190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53912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5DD6A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33972" y="2423160"/>
            <a:ext cx="731520" cy="731520"/>
          </a:xfrm>
          <a:prstGeom prst="ellipse">
            <a:avLst/>
          </a:prstGeom>
          <a:solidFill>
            <a:srgbClr val="5DD6A0"/>
          </a:solidFill>
          <a:ln w="12700">
            <a:solidFill>
              <a:srgbClr val="5D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397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153912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45352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per story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50124" y="3383280"/>
            <a:ext cx="109728" cy="0"/>
          </a:xfrm>
          <a:prstGeom prst="line">
            <a:avLst/>
          </a:prstGeom>
          <a:noFill/>
          <a:ln w="190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64424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FFB86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44484" y="2423160"/>
            <a:ext cx="731520" cy="731520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4484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64424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55864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{1,2,3,5,8,13}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60636" y="3383280"/>
            <a:ext cx="109728" cy="0"/>
          </a:xfrm>
          <a:prstGeom prst="line">
            <a:avLst/>
          </a:prstGeom>
          <a:noFill/>
          <a:ln w="190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774936" y="2103120"/>
            <a:ext cx="1691640" cy="2560320"/>
          </a:xfrm>
          <a:prstGeom prst="rect">
            <a:avLst/>
          </a:prstGeom>
          <a:solidFill>
            <a:srgbClr val="2A3556"/>
          </a:solidFill>
          <a:ln w="19050">
            <a:solidFill>
              <a:srgbClr val="5BE1D3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54996" y="2423160"/>
            <a:ext cx="731520" cy="731520"/>
          </a:xfrm>
          <a:prstGeom prst="ellipse">
            <a:avLst/>
          </a:prstGeom>
          <a:solidFill>
            <a:srgbClr val="5BE1D3"/>
          </a:solidFill>
          <a:ln w="12700">
            <a:solidFill>
              <a:srgbClr val="5BE1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499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774936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866376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Rally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each agent is the input to the next — full traceability is preserved.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in src/di_platform/ owns a single responsibility.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" y="2103120"/>
            <a:ext cx="2194560" cy="329184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8892" y="2103120"/>
            <a:ext cx="2194560" cy="128016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3484" y="3063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src/di_platform/api/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" y="3657600"/>
            <a:ext cx="1865376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" y="37947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routes, request/response shapes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38044" y="2103120"/>
            <a:ext cx="2194560" cy="329184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38044" y="2103120"/>
            <a:ext cx="2194560" cy="128016"/>
          </a:xfrm>
          <a:prstGeom prst="rect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2636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02636" y="3063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src/di_platform/services/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02636" y="3657600"/>
            <a:ext cx="1865376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2636" y="37947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agents, persist 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97196" y="2103120"/>
            <a:ext cx="2194560" cy="329184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97196" y="2103120"/>
            <a:ext cx="2194560" cy="128016"/>
          </a:xfrm>
          <a:prstGeom prst="rect">
            <a:avLst/>
          </a:prstGeom>
          <a:solidFill>
            <a:srgbClr val="FF7AD6"/>
          </a:solidFill>
          <a:ln w="12700">
            <a:solidFill>
              <a:srgbClr val="FF7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1788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61788" y="3063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src/di_platform/agents/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1788" y="3657600"/>
            <a:ext cx="1865376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1788" y="37947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AI agent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56348" y="2103120"/>
            <a:ext cx="2194560" cy="329184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56348" y="2103120"/>
            <a:ext cx="2194560" cy="128016"/>
          </a:xfrm>
          <a:prstGeom prst="rect">
            <a:avLst/>
          </a:prstGeom>
          <a:solidFill>
            <a:srgbClr val="5DD6A0"/>
          </a:solidFill>
          <a:ln w="12700">
            <a:solidFill>
              <a:srgbClr val="5D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0940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20940" y="3063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src/di_platform/models/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20940" y="3657600"/>
            <a:ext cx="1865376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0940" y="37947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+ SQLAlchemy models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15500" y="2103120"/>
            <a:ext cx="2194560" cy="329184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15500" y="2103120"/>
            <a:ext cx="2194560" cy="128016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80092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80092" y="3063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src/di_platform/utils/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80092" y="3657600"/>
            <a:ext cx="1865376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80092" y="37947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IDs, time helpers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CONFIGURATION PRECEDENCE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resolve top-down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higher in the list override lower ones. Secrets in .env, tunables in YAML, defaults in Python.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377440"/>
            <a:ext cx="822960" cy="822960"/>
          </a:xfrm>
          <a:prstGeom prst="ellipse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8686800" cy="1005840"/>
          </a:xfrm>
          <a:prstGeom prst="rect">
            <a:avLst/>
          </a:prstGeom>
          <a:solidFill>
            <a:srgbClr val="2A3556"/>
          </a:solidFill>
          <a:ln w="19050">
            <a:solidFill>
              <a:srgbClr val="6EA8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2587752"/>
            <a:ext cx="685800" cy="402336"/>
          </a:xfrm>
          <a:prstGeom prst="roundRect">
            <a:avLst>
              <a:gd name="adj" fmla="val 45455"/>
            </a:avLst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587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/ environment variables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secrets only. Never committed.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00200" y="3291840"/>
            <a:ext cx="0" cy="228600"/>
          </a:xfrm>
          <a:prstGeom prst="line">
            <a:avLst/>
          </a:prstGeom>
          <a:noFill/>
          <a:ln w="25400">
            <a:solidFill>
              <a:srgbClr val="6EA8FF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88720" y="3611880"/>
            <a:ext cx="822960" cy="822960"/>
          </a:xfrm>
          <a:prstGeom prst="ellipse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286000" y="3520440"/>
            <a:ext cx="8686800" cy="1005840"/>
          </a:xfrm>
          <a:prstGeom prst="rect">
            <a:avLst/>
          </a:prstGeom>
          <a:solidFill>
            <a:srgbClr val="2A3556"/>
          </a:solidFill>
          <a:ln w="1905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3822192"/>
            <a:ext cx="685800" cy="402336"/>
          </a:xfrm>
          <a:prstGeom prst="roundRect">
            <a:avLst>
              <a:gd name="adj" fmla="val 45455"/>
            </a:avLst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8221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config/&lt;environment&gt;.yaml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staging / production tunables.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00200" y="4526280"/>
            <a:ext cx="0" cy="228600"/>
          </a:xfrm>
          <a:prstGeom prst="line">
            <a:avLst/>
          </a:prstGeom>
          <a:noFill/>
          <a:ln w="25400">
            <a:solidFill>
              <a:srgbClr val="6EA8FF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88720" y="4846320"/>
            <a:ext cx="822960" cy="822960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846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2286000" y="4754880"/>
            <a:ext cx="8686800" cy="1005840"/>
          </a:xfrm>
          <a:prstGeom prst="rect">
            <a:avLst/>
          </a:prstGeom>
          <a:solidFill>
            <a:srgbClr val="2A3556"/>
          </a:solidFill>
          <a:ln w="19050">
            <a:solidFill>
              <a:srgbClr val="FFB86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5056632"/>
            <a:ext cx="685800" cy="402336"/>
          </a:xfrm>
          <a:prstGeom prst="roundRect">
            <a:avLst>
              <a:gd name="adj" fmla="val 45455"/>
            </a:avLst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50566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src/di_platform/config.py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5257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defaults — safe fallbacks if nothing else is set.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LOCAL DEV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every save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watches src/ — saving a file reloads the server in milliseconds.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2651760"/>
            <a:ext cx="2377440" cy="1280160"/>
          </a:xfrm>
          <a:prstGeom prst="rect">
            <a:avLst/>
          </a:prstGeom>
          <a:solidFill>
            <a:srgbClr val="2A3556"/>
          </a:solidFill>
          <a:ln w="25400">
            <a:solidFill>
              <a:srgbClr val="6EA8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src/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08376" y="3291840"/>
            <a:ext cx="411480" cy="0"/>
          </a:xfrm>
          <a:prstGeom prst="line">
            <a:avLst/>
          </a:prstGeom>
          <a:noFill/>
          <a:ln w="3810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65576" y="2651760"/>
            <a:ext cx="2377440" cy="1280160"/>
          </a:xfrm>
          <a:prstGeom prst="rect">
            <a:avLst/>
          </a:prstGeom>
          <a:solidFill>
            <a:srgbClr val="2A3556"/>
          </a:solidFill>
          <a:ln w="2540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888736" y="3291840"/>
            <a:ext cx="411480" cy="0"/>
          </a:xfrm>
          <a:prstGeom prst="line">
            <a:avLst/>
          </a:prstGeom>
          <a:noFill/>
          <a:ln w="3810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45936" y="2651760"/>
            <a:ext cx="2377440" cy="1280160"/>
          </a:xfrm>
          <a:prstGeom prst="rect">
            <a:avLst/>
          </a:prstGeom>
          <a:solidFill>
            <a:srgbClr val="2A3556"/>
          </a:solidFill>
          <a:ln w="25400">
            <a:solidFill>
              <a:srgbClr val="5DD6A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5936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(reload)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769096" y="3291840"/>
            <a:ext cx="411480" cy="0"/>
          </a:xfrm>
          <a:prstGeom prst="line">
            <a:avLst/>
          </a:prstGeom>
          <a:noFill/>
          <a:ln w="3810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26296" y="2651760"/>
            <a:ext cx="2377440" cy="1280160"/>
          </a:xfrm>
          <a:prstGeom prst="rect">
            <a:avLst/>
          </a:prstGeom>
          <a:solidFill>
            <a:srgbClr val="2A3556"/>
          </a:solidFill>
          <a:ln w="25400">
            <a:solidFill>
              <a:srgbClr val="FFB86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26296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415016" y="3931920"/>
            <a:ext cx="0" cy="502920"/>
          </a:xfrm>
          <a:prstGeom prst="line">
            <a:avLst/>
          </a:prstGeom>
          <a:noFill/>
          <a:ln w="31750">
            <a:solidFill>
              <a:srgbClr val="6EA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3936" y="4434840"/>
            <a:ext cx="8641080" cy="0"/>
          </a:xfrm>
          <a:prstGeom prst="line">
            <a:avLst/>
          </a:prstGeom>
          <a:noFill/>
          <a:ln w="31750">
            <a:solidFill>
              <a:srgbClr val="6EA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3936" y="4434840"/>
            <a:ext cx="0" cy="-502920"/>
          </a:xfrm>
          <a:prstGeom prst="line">
            <a:avLst/>
          </a:prstGeom>
          <a:noFill/>
          <a:ln w="31750">
            <a:solidFill>
              <a:srgbClr val="6EA8F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180076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983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pytest before committing.  Use the VSCode launch configs in .vscode/launch.json for one-click debugging.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CONTAINER TOPOLOGY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full stack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spins the whole local stack — app, database, cache.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0956" y="2377440"/>
            <a:ext cx="3291840" cy="3017520"/>
          </a:xfrm>
          <a:prstGeom prst="rect">
            <a:avLst/>
          </a:prstGeom>
          <a:solidFill>
            <a:srgbClr val="2A3556"/>
          </a:solidFill>
          <a:ln w="25400">
            <a:solidFill>
              <a:srgbClr val="6EA8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8236" y="2743200"/>
            <a:ext cx="1097280" cy="1097280"/>
          </a:xfrm>
          <a:prstGeom prst="ellipse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8236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90956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796796" y="4572000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6796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48556" y="2377440"/>
            <a:ext cx="3291840" cy="3017520"/>
          </a:xfrm>
          <a:prstGeom prst="rect">
            <a:avLst/>
          </a:prstGeom>
          <a:solidFill>
            <a:srgbClr val="2A3556"/>
          </a:solidFill>
          <a:ln w="25400">
            <a:solidFill>
              <a:srgbClr val="9B7D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45836" y="2743200"/>
            <a:ext cx="1097280" cy="1097280"/>
          </a:xfrm>
          <a:prstGeom prst="ellipse">
            <a:avLst/>
          </a:prstGeom>
          <a:solidFill>
            <a:srgbClr val="9B7DFF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5836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48556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54396" y="4572000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 w="12700">
            <a:solidFill>
              <a:srgbClr val="9B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4396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48556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06156" y="2377440"/>
            <a:ext cx="3291840" cy="3017520"/>
          </a:xfrm>
          <a:prstGeom prst="rect">
            <a:avLst/>
          </a:prstGeom>
          <a:solidFill>
            <a:srgbClr val="2A3556"/>
          </a:solidFill>
          <a:ln w="25400">
            <a:solidFill>
              <a:srgbClr val="FFB86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03436" y="2743200"/>
            <a:ext cx="1097280" cy="1097280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3436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106156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11996" y="4572000"/>
            <a:ext cx="1280160" cy="36576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1996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:6379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06156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— cache &amp; queue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share the di-platform compose network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TESTING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confidence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unit tests, realistic integration tests, deterministic fixtures.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" y="2194560"/>
            <a:ext cx="3657600" cy="256032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9476" y="2194560"/>
            <a:ext cx="3657600" cy="128016"/>
          </a:xfrm>
          <a:prstGeom prst="rect">
            <a:avLst/>
          </a:prstGeom>
          <a:solidFill>
            <a:srgbClr val="5DD6A0"/>
          </a:solidFill>
          <a:ln w="12700">
            <a:solidFill>
              <a:srgbClr val="5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8076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tests/unit/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" y="3520440"/>
            <a:ext cx="3200400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tests. No DB, no network. Runs in milliseconds.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65676" y="2194560"/>
            <a:ext cx="3657600" cy="256032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5676" y="2194560"/>
            <a:ext cx="3657600" cy="128016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4276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94276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tests/integration/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94276" y="3520440"/>
            <a:ext cx="3200400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4276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TestClient + spun-up Postgres &amp; Redis. Validates wiring.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1876" y="2194560"/>
            <a:ext cx="3657600" cy="2560320"/>
          </a:xfrm>
          <a:prstGeom prst="rect">
            <a:avLst/>
          </a:prstGeom>
          <a:solidFill>
            <a:srgbClr val="2A3556"/>
          </a:solidFill>
          <a:ln w="12700">
            <a:solidFill>
              <a:srgbClr val="3A456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1876" y="2194560"/>
            <a:ext cx="3657600" cy="128016"/>
          </a:xfrm>
          <a:prstGeom prst="rect">
            <a:avLst/>
          </a:prstGeom>
          <a:solidFill>
            <a:srgbClr val="FF7AD6"/>
          </a:solidFill>
          <a:ln w="12700">
            <a:solidFill>
              <a:srgbClr val="FF7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0476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80476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tests/fixtures/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80476" y="3520440"/>
            <a:ext cx="3200400" cy="0"/>
          </a:xfrm>
          <a:prstGeom prst="line">
            <a:avLst/>
          </a:prstGeom>
          <a:noFill/>
          <a:ln w="12700">
            <a:solidFill>
              <a:srgbClr val="3A4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0476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snapshots used as inputs and mocked Anthropic responses.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16636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03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— Nishanth Kumar Kishore · Digital Infotech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82712" y="5458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IDD: DI-2026-NKK-0511-001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DI-Platform · IDD: DI-2026-NKK-0511-001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Digital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DI-Platform — Architecture</dc:title>
  <dc:subject>PptxGenJS Presentation</dc:subject>
  <dc:creator>Nishanth Kumar Kishore</dc:creator>
  <cp:lastModifiedBy>Nishanth Kumar Kishore</cp:lastModifiedBy>
  <cp:revision>1</cp:revision>
  <dcterms:created xsi:type="dcterms:W3CDTF">2026-05-19T01:54:53Z</dcterms:created>
  <dcterms:modified xsi:type="dcterms:W3CDTF">2026-05-19T01:54:53Z</dcterms:modified>
</cp:coreProperties>
</file>